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notesMasterIdLst>
    <p:notesMasterId r:id="rId13"/>
  </p:notesMasterIdLst>
  <p:sldIdLst>
    <p:sldId id="256" r:id="rId2"/>
    <p:sldId id="257" r:id="rId3"/>
    <p:sldId id="265" r:id="rId4"/>
    <p:sldId id="268" r:id="rId5"/>
    <p:sldId id="269" r:id="rId6"/>
    <p:sldId id="272" r:id="rId7"/>
    <p:sldId id="267" r:id="rId8"/>
    <p:sldId id="273" r:id="rId9"/>
    <p:sldId id="270" r:id="rId10"/>
    <p:sldId id="271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8420E-662C-4FB5-8180-C6309A495B8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CB7D5-BD73-4A18-A0DC-9E1CEB649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15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CB7D5-BD73-4A18-A0DC-9E1CEB6494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82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6B1F3-CF4E-5AE1-BE8A-A0E454FC9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8680F-F041-AB54-23E7-AC4A2E2DC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2582C-FFA6-8E16-6728-9D49E2E2F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BE5FD-86D1-92EA-845F-963706A66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CB7D5-BD73-4A18-A0DC-9E1CEB6494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57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E73CD-19DE-90EE-2F8E-EF54036C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D9843-6C24-2305-DF68-87F169A99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EAC8E-63AC-60E1-C1C8-90786ED86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6F4DC-6E31-B9E7-B7AA-5175BEB6E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CB7D5-BD73-4A18-A0DC-9E1CEB6494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27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DD1C-A5C1-F37C-CC8D-BFBE7FFB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4A80B-CD8D-28BA-E7C5-687BFC6CE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B502C-1F97-B19B-7D0B-0A3026739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CAFEF-7DBA-2B23-E854-A7A45B1E4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CB7D5-BD73-4A18-A0DC-9E1CEB6494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67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BF518-B1AC-5778-4110-A8EFD2DA8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4F8666-D47B-A39E-6812-CD03B4B2E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BC9E6-8869-5092-D0C3-EFC4B54EE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96729-D206-419F-FAED-50C1376EC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CB7D5-BD73-4A18-A0DC-9E1CEB6494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90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41A65-29AF-60F7-33D4-B6D90D56F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80936-FE1C-7321-C948-145B84F7D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24D50-EF41-45E8-6C13-8A475F2E4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8C5FF-A4CA-30BA-EE6A-F1D71E5EE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CB7D5-BD73-4A18-A0DC-9E1CEB6494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53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13A05-BF90-374D-B067-88446C1D9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0FD33-23BF-580E-B053-FEDD81D9F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6F43E-47E6-E9ED-77DA-96575FA0F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EF85F-09A5-7D05-BE0F-FB15E39FC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CB7D5-BD73-4A18-A0DC-9E1CEB6494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58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E7C82-94CC-3962-2757-D62E9F6DA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1CC7D-2769-EC5C-D88D-7BB37345F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3B2AF-3828-BE36-06E4-A9F855FDD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6C57F-6CA4-35EE-5B03-CCC4DD1A3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CB7D5-BD73-4A18-A0DC-9E1CEB6494F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76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2DB47-6BE6-285D-6637-CC7FE9C8B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CCC77-6358-10C6-A282-4304CB570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7D000F-306B-2C5A-BBB2-AD3376722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9E1EA-9D58-E11F-9389-7E68C5E76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CB7D5-BD73-4A18-A0DC-9E1CEB6494F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69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81BB-E277-17AC-B278-302A27D1D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6CB6D-B052-0F14-2BFC-DC857B176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CD3D6-4756-82E2-C7D8-7E94B4624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5A056-13FD-A46A-C0F4-C3277C18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FBA40-D665-D750-12D4-2DD9F981A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37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49E2-1C64-1422-EB5C-855E285AD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32472-2908-36DC-FF1D-48BD1FC6F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E0A3B-840E-5858-DD09-E9C85DD5B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A6F35-2CE6-3707-B4EB-768E7DCA0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3F3A1-B6D0-CA89-F132-C1B93197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9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AD781-5507-11A6-D0A0-D86E6545E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7A543-6654-4CFD-CAB5-B87429240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420BC-87C3-ED7D-7787-559D3238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FE6A4-42EF-5819-CD73-2694D5639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CE068-7314-8210-E5A0-9E51892D6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13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E81F-FB43-63A7-F608-D6B647BCC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D8C69-ACCA-A144-8DDA-6C9BF39FE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9396A-A6D5-B231-C2F2-74D0C67A6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66BCE-C293-6A32-E4C2-18968FD14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ABE83-5CD8-817D-DAE7-867AF68B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B39D7-CE11-3F9B-109B-59A07A0AE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4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2127-25E9-8CA2-CE0A-0629FB16B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8EFB5-0E01-4B12-CAA2-690B4DA73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7B291-70D9-0E61-C89E-4A4339486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068406-BA6D-EC28-1F55-D2FD61E9C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F45A36-6EDE-0F94-00AF-6031FAB24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741C4B-CD0C-2720-2E3C-E115E1147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B47749-7C70-3394-9DA1-33DD2B763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C362B-9A57-684B-F3DE-8CE43641A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928DA-B966-69E8-D2B5-4499107C5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7EBE0A-477E-256A-0F41-22CF78E1E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3ADCC6-F32F-C183-84C9-506D6DBD8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F91FF-5433-91F7-C6A7-AA3D1CBD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0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D31EF6-D17D-6341-D1AB-1BBEE339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42E70-13C2-0567-693F-6F03B0561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5D456-64E8-2300-12BC-A660BCAAD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7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C3B0E-70C8-DD20-940C-DD8684EB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3E28E-920E-A180-6AAC-92D869258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229D40-306E-F592-E4B8-C98FF6183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6D2AB-CFC4-D34E-05F4-77D649253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60919-3ADC-B55E-73D7-97B6E01E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E85BB-077C-1404-C8E4-DFBD8C3F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26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CAB21-5470-DC94-7CCC-F11511AD7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7AD864-6991-3473-FC5A-A0222D042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6D543-D0F9-6F96-BBDB-1DD0A19ED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CD3D-C5E8-0136-F339-D8224317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E30CD-4562-EDE5-F935-39E599A6B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1713D-329B-02BA-4FDA-6BF8A6424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12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10FF2-206C-30EB-26B8-2E083CF6F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17F21-C887-7113-83F4-ABC8DF9F1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485EC-18F4-4A2D-F7FC-10F843804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AC86C-9AA6-A6D1-BF44-0451C10F2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0429E-584F-D7AF-8DE3-8AAAE047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12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D856B1-B96D-D5E3-6924-50D1EC48F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165E2-0210-81A8-3ED3-E96DA89BC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1AEF6-0EFB-47E3-DA89-B0585C86E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DFC5C-0BBE-19AB-94F2-2C85B5AE3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A4F46-662E-1E18-F76D-331BB365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64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4B6155-1099-5346-6B4B-E8BC4FD60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91BCB-6EDC-E8FC-88A3-24DE84DEC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B6A39-F7A9-CFAB-1AD6-DA0DC0831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12FD1-3703-2777-D1C7-2866B91A1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5B44-15DC-4694-9E92-85F1A093C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D7E402-6B52-0C0D-C2C0-3386ADDFD84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47337" y="6672580"/>
            <a:ext cx="4699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921581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8840" y="1741337"/>
            <a:ext cx="4086547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Data Engineering Pipeline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FBFDBD-2F68-6A0E-9FAC-D367B0A2F951}"/>
              </a:ext>
            </a:extLst>
          </p:cNvPr>
          <p:cNvSpPr txBox="1"/>
          <p:nvPr/>
        </p:nvSpPr>
        <p:spPr>
          <a:xfrm>
            <a:off x="2528840" y="5970329"/>
            <a:ext cx="4087487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Sai Saathvik Domala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43336"/>
            <a:ext cx="3872284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304" y="815717"/>
            <a:ext cx="7375161" cy="552842"/>
          </a:xfrm>
        </p:spPr>
        <p:txBody>
          <a:bodyPr anchor="t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Problem Statement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209434"/>
            <a:ext cx="7375161" cy="39482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Build a reliable, end‑to‑end data ingestion pipeline capable of processing messy, real‑world CSV data into clean, analytics‑ready SQL tables.</a:t>
            </a:r>
            <a:br>
              <a:rPr lang="en-US" sz="1800" dirty="0">
                <a:solidFill>
                  <a:schemeClr val="tx2"/>
                </a:solidFill>
              </a:rPr>
            </a:b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br>
              <a:rPr lang="en-US" sz="1800" dirty="0">
                <a:solidFill>
                  <a:schemeClr val="tx2"/>
                </a:solidFill>
              </a:rPr>
            </a:br>
            <a:r>
              <a:rPr lang="en-US" sz="1800" dirty="0">
                <a:solidFill>
                  <a:schemeClr val="tx2"/>
                </a:solidFill>
              </a:rPr>
              <a:t>The goal is to demonstrate your ability to: </a:t>
            </a:r>
          </a:p>
          <a:p>
            <a:pPr marL="0" indent="0">
              <a:buNone/>
            </a:pPr>
            <a:br>
              <a:rPr lang="en-US" sz="1800" dirty="0">
                <a:solidFill>
                  <a:schemeClr val="tx2"/>
                </a:solidFill>
              </a:rPr>
            </a:br>
            <a:r>
              <a:rPr lang="en-US" sz="1800" dirty="0">
                <a:solidFill>
                  <a:schemeClr val="tx2"/>
                </a:solidFill>
              </a:rPr>
              <a:t>	- Design a scalable schema.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	- Ingest and preprocess raw data.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	- Apply robust data quality controls.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	- Communicate tradeoffs and engineering decisions clearly.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4749F-4BC7-D7E3-33AE-FAA7CE7C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CB30688-3184-ADB9-49E5-6F87F6DEA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205A0D-26DF-1A68-7664-A15A09AD9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9D563-FA35-29C3-70AD-B6BFD406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303" y="811697"/>
            <a:ext cx="7375161" cy="552842"/>
          </a:xfrm>
        </p:spPr>
        <p:txBody>
          <a:bodyPr anchor="t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Architecture Overview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918FCA3-A3A0-F1E1-911B-7CFD46FB2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9F9E591-847E-BDF9-7C5C-35A53DF52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E2BDAE8-811F-C2BE-23F3-EBE3EBC2C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8086589-95AA-86E3-63CE-874FFC261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96D83A5-F3B0-C350-B2B2-6479E2D1F6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5246D-FC59-35BC-0C19-664E8CF70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168" y="1687627"/>
            <a:ext cx="6745296" cy="1741373"/>
          </a:xfrm>
        </p:spPr>
        <p:txBody>
          <a:bodyPr>
            <a:normAutofit/>
          </a:bodyPr>
          <a:lstStyle/>
          <a:p>
            <a:pPr marL="342900" indent="-342900">
              <a:buAutoNum type="arabicParenR"/>
            </a:pPr>
            <a:r>
              <a:rPr lang="en-US" sz="1600" dirty="0"/>
              <a:t>Ingest raw input</a:t>
            </a:r>
          </a:p>
          <a:p>
            <a:pPr marL="342900" indent="-342900">
              <a:buAutoNum type="arabicParenR"/>
            </a:pPr>
            <a:r>
              <a:rPr lang="en-US" sz="1600" dirty="0"/>
              <a:t>Dump raw rows into </a:t>
            </a:r>
            <a:r>
              <a:rPr lang="en-US" sz="1600" dirty="0" err="1"/>
              <a:t>transaction_raw</a:t>
            </a:r>
            <a:endParaRPr lang="en-US" sz="1600" dirty="0"/>
          </a:p>
          <a:p>
            <a:pPr marL="342900" indent="-342900">
              <a:buAutoNum type="arabicParenR"/>
            </a:pPr>
            <a:r>
              <a:rPr lang="en-US" sz="1600" dirty="0"/>
              <a:t>Canonicalize and validate → produce </a:t>
            </a:r>
            <a:r>
              <a:rPr lang="en-US" sz="1600" dirty="0" err="1"/>
              <a:t>clean_rows</a:t>
            </a:r>
            <a:r>
              <a:rPr lang="en-US" sz="1600" dirty="0"/>
              <a:t> + </a:t>
            </a:r>
            <a:r>
              <a:rPr lang="en-US" sz="1600" dirty="0" err="1"/>
              <a:t>bad_rows</a:t>
            </a:r>
            <a:endParaRPr lang="en-US" sz="1600" dirty="0"/>
          </a:p>
          <a:p>
            <a:pPr marL="342900" indent="-342900">
              <a:buAutoNum type="arabicParenR"/>
            </a:pPr>
            <a:r>
              <a:rPr lang="en-US" sz="1600" dirty="0"/>
              <a:t>Derive final analytics layer split into Dims and Fact Table</a:t>
            </a:r>
          </a:p>
          <a:p>
            <a:pPr lvl="1"/>
            <a:r>
              <a:rPr lang="en-US" sz="1600" dirty="0"/>
              <a:t>Customer, Product, </a:t>
            </a:r>
            <a:r>
              <a:rPr lang="en-US" sz="1600" dirty="0" err="1"/>
              <a:t>Order_info</a:t>
            </a:r>
            <a:r>
              <a:rPr lang="en-US" sz="1600" dirty="0"/>
              <a:t>, </a:t>
            </a:r>
            <a:r>
              <a:rPr lang="en-US" sz="1600" dirty="0" err="1"/>
              <a:t>Order_detail</a:t>
            </a:r>
            <a:endParaRPr lang="en-US" sz="16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0265A43-0886-25AA-B8FB-8D3859F5D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5BAEA53-AFE4-5CFA-2292-C0B7E7623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48F9FDD-F29A-0FDC-44BC-1B0F5B3C9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8A2768E-7C8D-4609-CA8D-EF9DC0E54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9BC6D28-C047-A14D-BE1E-662C41629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8AB9E8-8709-C27E-B4A3-904CB6FAC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992" y="3399124"/>
            <a:ext cx="8485632" cy="2799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495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D90CF-9D61-248A-E3EF-21C920B13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DAFBD2A-D4C9-6C32-560A-69C64E3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BC474A-5CFC-355E-25E2-480B80206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9F216-39EE-E90E-6F4E-0C595D548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304" y="815717"/>
            <a:ext cx="7375161" cy="552842"/>
          </a:xfrm>
        </p:spPr>
        <p:txBody>
          <a:bodyPr anchor="t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Schema Design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883B2E-C5C6-4636-F778-707F57D9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D27658E-1F32-51F6-0097-78D5371DED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4D94A60-4900-0E31-4421-B99C6840E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1DE4B8D-BFDF-908D-45EB-4A95FC58A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2732E8-D3A7-21A6-CFA7-0610436E4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8123BD3-B6C7-97B6-0EC5-EEB68DCA2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10FE237-BDF5-AD9D-E0FD-9BFC2FCA89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F038F04-F1E6-88A9-DBB1-F3E5ECE41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72BE945-AB4D-A7AC-4AE1-9EA2A2DD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470A726-E695-E747-6C8B-C71B6C242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50" name="Picture 2" descr="Schema Design">
            <a:extLst>
              <a:ext uri="{FF2B5EF4-FFF2-40B4-BE49-F238E27FC236}">
                <a16:creationId xmlns:a16="http://schemas.microsoft.com/office/drawing/2014/main" id="{F24C9519-B9C6-D278-8D67-2AEDCCF8E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42" y="1566842"/>
            <a:ext cx="8796284" cy="4946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583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42623-CF98-EC4B-B206-FE4FA986A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5CFC7-FB78-C3B3-B5C8-2BB489795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CC062A-BD4D-71F6-4C90-A6850D307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2F9A8-F162-2A59-E21F-9CFE30F9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304" y="815717"/>
            <a:ext cx="7375161" cy="552842"/>
          </a:xfrm>
        </p:spPr>
        <p:txBody>
          <a:bodyPr anchor="t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Why This Schema Works Well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BE2E05E-79A7-FE6E-8ACA-4973DD24D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59247D6-9F61-8AC4-CC14-9A2EDFF7D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E32EE00-75C7-A38F-BD9E-7C487D0F30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005F5D9-9D76-BE67-D2F4-F2A1CDF0D1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AAF03B0-A170-74FF-98FA-3ED92B8CB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C72F90F-848A-ADBE-4650-B2FC272E6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DA30F9D-2979-39DA-7A3D-F3AFCFA5B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FB03686-1E29-E3FC-38D5-4B8718D0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7DED7FE-AAF4-D569-6391-A0C7777BE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89B93B-085D-3B86-1AF6-6A808114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856679-8C1B-826C-74CF-79F00158B529}"/>
              </a:ext>
            </a:extLst>
          </p:cNvPr>
          <p:cNvSpPr txBox="1">
            <a:spLocks/>
          </p:cNvSpPr>
          <p:nvPr/>
        </p:nvSpPr>
        <p:spPr>
          <a:xfrm>
            <a:off x="884303" y="1867229"/>
            <a:ext cx="7375161" cy="3948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3- Layer Architecture</a:t>
            </a:r>
          </a:p>
          <a:p>
            <a:pPr lvl="1"/>
            <a:r>
              <a:rPr lang="en-US" sz="1600" b="1" dirty="0">
                <a:solidFill>
                  <a:schemeClr val="tx2"/>
                </a:solidFill>
              </a:rPr>
              <a:t>Bronze</a:t>
            </a:r>
            <a:r>
              <a:rPr lang="en-US" sz="1600" dirty="0">
                <a:solidFill>
                  <a:schemeClr val="tx2"/>
                </a:solidFill>
              </a:rPr>
              <a:t>: Raw staging</a:t>
            </a:r>
          </a:p>
          <a:p>
            <a:pPr lvl="1"/>
            <a:r>
              <a:rPr lang="en-US" sz="1600" b="1" dirty="0">
                <a:solidFill>
                  <a:schemeClr val="tx2"/>
                </a:solidFill>
              </a:rPr>
              <a:t>Silver</a:t>
            </a:r>
            <a:r>
              <a:rPr lang="en-US" sz="1600" dirty="0">
                <a:solidFill>
                  <a:schemeClr val="tx2"/>
                </a:solidFill>
              </a:rPr>
              <a:t>: Clean &amp; Bad tables</a:t>
            </a:r>
          </a:p>
          <a:p>
            <a:pPr lvl="1"/>
            <a:r>
              <a:rPr lang="en-US" sz="1600" b="1" dirty="0">
                <a:solidFill>
                  <a:schemeClr val="tx2"/>
                </a:solidFill>
              </a:rPr>
              <a:t>Gold</a:t>
            </a:r>
            <a:r>
              <a:rPr lang="en-US" sz="1600" dirty="0">
                <a:solidFill>
                  <a:schemeClr val="tx2"/>
                </a:solidFill>
              </a:rPr>
              <a:t>: customer, product, </a:t>
            </a:r>
            <a:r>
              <a:rPr lang="en-US" sz="1600" dirty="0" err="1">
                <a:solidFill>
                  <a:schemeClr val="tx2"/>
                </a:solidFill>
              </a:rPr>
              <a:t>order_info</a:t>
            </a:r>
            <a:r>
              <a:rPr lang="en-US" sz="1600" dirty="0">
                <a:solidFill>
                  <a:schemeClr val="tx2"/>
                </a:solidFill>
              </a:rPr>
              <a:t>, </a:t>
            </a:r>
            <a:r>
              <a:rPr lang="en-US" sz="1600" dirty="0" err="1">
                <a:solidFill>
                  <a:schemeClr val="tx2"/>
                </a:solidFill>
              </a:rPr>
              <a:t>order_detail</a:t>
            </a:r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Star-schema layout for analytics</a:t>
            </a:r>
            <a:endParaRPr lang="en-US" sz="1700" dirty="0">
              <a:solidFill>
                <a:schemeClr val="tx2"/>
              </a:solidFill>
            </a:endParaRPr>
          </a:p>
          <a:p>
            <a:pPr lvl="1"/>
            <a:r>
              <a:rPr lang="en-US" sz="1600" b="1" dirty="0"/>
              <a:t>Traceable: </a:t>
            </a:r>
            <a:r>
              <a:rPr lang="en-US" sz="1600" dirty="0"/>
              <a:t>Every clean/bad row maps back to raw data.</a:t>
            </a:r>
          </a:p>
          <a:p>
            <a:pPr lvl="1"/>
            <a:r>
              <a:rPr lang="en-US" sz="1600" b="1" dirty="0"/>
              <a:t>Reliable: </a:t>
            </a:r>
            <a:r>
              <a:rPr lang="en-US" sz="1600" dirty="0"/>
              <a:t>Natural keys enforce idempotency and eliminate duplicates.</a:t>
            </a:r>
          </a:p>
          <a:p>
            <a:pPr lvl="1"/>
            <a:r>
              <a:rPr lang="en-US" sz="1600" b="1" dirty="0"/>
              <a:t>Analytics‑ready:</a:t>
            </a:r>
            <a:r>
              <a:rPr lang="en-US" sz="1600" dirty="0"/>
              <a:t> Star schema supports BI and reporting use cases.</a:t>
            </a:r>
          </a:p>
          <a:p>
            <a:pPr lvl="1"/>
            <a:r>
              <a:rPr lang="en-US" sz="1600" b="1" dirty="0"/>
              <a:t>Production‑aligned:</a:t>
            </a:r>
            <a:r>
              <a:rPr lang="en-US" sz="1600" dirty="0"/>
              <a:t> Mirrors real-world ingestion patterns (Raw → Clean → Dims/Facts).</a:t>
            </a:r>
          </a:p>
          <a:p>
            <a:pPr lvl="1"/>
            <a:r>
              <a:rPr lang="en-US" sz="1600" b="1" dirty="0"/>
              <a:t>Extensible:</a:t>
            </a:r>
            <a:r>
              <a:rPr lang="en-US" sz="1600" dirty="0"/>
              <a:t> Easy to add SCD2, FX normalization, enrichment, &amp; metadata tables.</a:t>
            </a:r>
          </a:p>
          <a:p>
            <a:pPr lvl="1"/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219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7879D-E3D1-0936-1EB1-21D82444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267EA3E-283E-9945-698F-4D31205C0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308F69-76DD-80FB-1D9C-50FDEA25A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49D34B-AC4C-E467-FEC9-88A2D1528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304" y="815717"/>
            <a:ext cx="7375161" cy="552842"/>
          </a:xfrm>
        </p:spPr>
        <p:txBody>
          <a:bodyPr anchor="t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Key Engineering Considerations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FD5F23-B5B2-D2BA-07C2-EC10DBA7D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DF109FE-58E8-9E6F-DB68-1E905414D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10682B0-3F59-4937-3C4F-02B76F3A3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29D09B9-6D99-CC7E-3C95-ADFD87AEE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6A159E9-D6FE-6BA8-0B4C-4A04BCB9C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C29B-3768-5D8E-7894-D22BD3DF1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8" y="1669219"/>
            <a:ext cx="6164826" cy="393516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Read‑as‑TEXT ingestion 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Schema‑on‑read (ELT) approach 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Strict canonicalization before validation 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Three‑Layer Architecture (Bronze → Silver → Gold)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UPSERT‑based ingestion 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Global data normalization 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Reproducibility &amp; lineage : </a:t>
            </a:r>
            <a:r>
              <a:rPr lang="en-US" sz="1800" dirty="0" err="1"/>
              <a:t>ingested_at</a:t>
            </a:r>
            <a:r>
              <a:rPr lang="en-US" sz="1800" dirty="0"/>
              <a:t>, </a:t>
            </a:r>
            <a:r>
              <a:rPr lang="en-US" sz="1800" dirty="0" err="1"/>
              <a:t>source_file</a:t>
            </a:r>
            <a:r>
              <a:rPr lang="en-US" sz="1800" dirty="0"/>
              <a:t>, version 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SCD‑Friendly 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89FCF65-1A1B-C5ED-1E36-459BA83E7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012CEBE-068B-E15A-6B7E-313C550670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F493D3-EA74-A671-141B-44953A8F5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6EF9A2A-5E8C-702E-E8E8-2A6A89537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4A66402-A33F-5A02-BEFC-AC6CA28CA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7020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308BA-1CB4-707C-422D-1CA1AD416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57CF7C7-6A5A-5805-6CF7-33BA23565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995F90-42A3-9C6E-4983-84D26B88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BCF6CE-B3EF-C9F1-8EC3-6B45C07F5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175" y="539296"/>
            <a:ext cx="7375161" cy="552842"/>
          </a:xfrm>
        </p:spPr>
        <p:txBody>
          <a:bodyPr anchor="t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Data Quality Handling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6486E79-A515-E2F8-AF4D-1A073A979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7080A8B-FE63-3DB0-5A86-55187C8A3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5C0EFCF-FBDD-134E-B417-4CAE57216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24CD768-9757-7D55-A602-E7590F4D8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0D14B1A-8BCE-137E-8CFF-FF117DB9BF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C6E9E8-1D1E-277C-C6F1-5E1649E971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3420862"/>
              </p:ext>
            </p:extLst>
          </p:nvPr>
        </p:nvGraphicFramePr>
        <p:xfrm>
          <a:off x="2792418" y="4551366"/>
          <a:ext cx="3558932" cy="2281877"/>
        </p:xfrm>
        <a:graphic>
          <a:graphicData uri="http://schemas.openxmlformats.org/drawingml/2006/table">
            <a:tbl>
              <a:tblPr/>
              <a:tblGrid>
                <a:gridCol w="1779466">
                  <a:extLst>
                    <a:ext uri="{9D8B030D-6E8A-4147-A177-3AD203B41FA5}">
                      <a16:colId xmlns:a16="http://schemas.microsoft.com/office/drawing/2014/main" val="1837299848"/>
                    </a:ext>
                  </a:extLst>
                </a:gridCol>
                <a:gridCol w="1779466">
                  <a:extLst>
                    <a:ext uri="{9D8B030D-6E8A-4147-A177-3AD203B41FA5}">
                      <a16:colId xmlns:a16="http://schemas.microsoft.com/office/drawing/2014/main" val="2676320938"/>
                    </a:ext>
                  </a:extLst>
                </a:gridCol>
              </a:tblGrid>
              <a:tr h="192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effectLst/>
                        </a:rPr>
                        <a:t>Color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effectLst/>
                        </a:rPr>
                        <a:t>Issue Type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958534"/>
                  </a:ext>
                </a:extLst>
              </a:tr>
              <a:tr h="192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bg1"/>
                          </a:solidFill>
                          <a:effectLst/>
                        </a:rPr>
                        <a:t>🔴 Red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effectLst/>
                        </a:rPr>
                        <a:t>Bad records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94524"/>
                  </a:ext>
                </a:extLst>
              </a:tr>
              <a:tr h="192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bg1"/>
                          </a:solidFill>
                          <a:effectLst/>
                        </a:rPr>
                        <a:t>🟩 Light Green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bg1"/>
                          </a:solidFill>
                          <a:effectLst/>
                        </a:rPr>
                        <a:t>Invalid email format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55435"/>
                  </a:ext>
                </a:extLst>
              </a:tr>
              <a:tr h="192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effectLst/>
                        </a:rPr>
                        <a:t>🟪 Light Purple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effectLst/>
                        </a:rPr>
                        <a:t>Inconsistent phone format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11961"/>
                  </a:ext>
                </a:extLst>
              </a:tr>
              <a:tr h="192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bg1"/>
                          </a:solidFill>
                          <a:effectLst/>
                        </a:rPr>
                        <a:t>🟧 Light Orange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bg1"/>
                          </a:solidFill>
                          <a:effectLst/>
                        </a:rPr>
                        <a:t>Non‑ASCII / corrupt text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214326"/>
                  </a:ext>
                </a:extLst>
              </a:tr>
              <a:tr h="276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effectLst/>
                        </a:rPr>
                        <a:t>🔵 Light Blue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bg1"/>
                          </a:solidFill>
                          <a:effectLst/>
                        </a:rPr>
                        <a:t>Inconsistent order date formats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500243"/>
                  </a:ext>
                </a:extLst>
              </a:tr>
              <a:tr h="276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bg1"/>
                          </a:solidFill>
                          <a:effectLst/>
                        </a:rPr>
                        <a:t>🟢 Dark Green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bg1"/>
                          </a:solidFill>
                          <a:effectLst/>
                        </a:rPr>
                        <a:t>Inconsistent ship date formats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29291"/>
                  </a:ext>
                </a:extLst>
              </a:tr>
              <a:tr h="276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effectLst/>
                        </a:rPr>
                        <a:t>🟡 Yellow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effectLst/>
                        </a:rPr>
                        <a:t>Conflicting prices for same product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973918"/>
                  </a:ext>
                </a:extLst>
              </a:tr>
              <a:tr h="192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bg1"/>
                          </a:solidFill>
                          <a:effectLst/>
                        </a:rPr>
                        <a:t>🟣 Dark Purple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bg1"/>
                          </a:solidFill>
                          <a:effectLst/>
                        </a:rPr>
                        <a:t>order_date &gt; ship_date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049160"/>
                  </a:ext>
                </a:extLst>
              </a:tr>
              <a:tr h="192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bg1"/>
                          </a:solidFill>
                          <a:effectLst/>
                        </a:rPr>
                        <a:t>🟧 Dark Orange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effectLst/>
                        </a:rPr>
                        <a:t>Inconsistent numeric format</a:t>
                      </a:r>
                    </a:p>
                  </a:txBody>
                  <a:tcPr marL="92639" marR="92639" marT="42757" marB="42757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715110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7A225DC7-6983-8A85-49AA-29E24EF7A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B51D2F2-DB97-EC4E-46B8-CE3B9E208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C399C32-A395-9278-D245-3F6412F965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2709755-CB31-FD70-3D0C-81E831C3B9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90D8DDF-873D-CC16-7C1C-BE2BBF81E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 descr="Data Quality in Input">
            <a:extLst>
              <a:ext uri="{FF2B5EF4-FFF2-40B4-BE49-F238E27FC236}">
                <a16:creationId xmlns:a16="http://schemas.microsoft.com/office/drawing/2014/main" id="{27105C97-4E91-ACEB-1A02-B9DE0C896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" y="1381076"/>
            <a:ext cx="9144000" cy="293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0327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1C8A1-CB6A-E0AC-CCF2-ABFF9907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79874C9-AF7B-D873-8FFD-6F159DEE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605B49-6C63-03BC-A785-A4F1C2C9D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CD0E52-B4B4-FF4C-6E73-7172E94D0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304" y="815717"/>
            <a:ext cx="7375161" cy="552842"/>
          </a:xfrm>
        </p:spPr>
        <p:txBody>
          <a:bodyPr anchor="t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Data Quality Handling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6636BE5-C4C4-959D-E718-12A045B44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C9B2B11-BDE4-031E-1990-A0E27159E4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35353F6-CB39-0A5C-49A7-0219060D3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54A171A-9C2E-6A16-03B9-E52FC46C4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9934535-088F-4F5C-439F-4F03894EA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DA4E6EE-FC8B-D9D8-3F2B-F072C865A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B5B50E5-C5BF-422C-8BDA-155B98B38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8310646-45D6-BE50-E6B0-3EE0876C2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8B79AE9-DE33-5E7D-28EB-C45BDB86F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67E7911-797A-D870-8B3D-CF37726B3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7BDFB6D-BCC5-0F7E-56E8-A8C1FB3B665E}"/>
              </a:ext>
            </a:extLst>
          </p:cNvPr>
          <p:cNvSpPr txBox="1"/>
          <p:nvPr/>
        </p:nvSpPr>
        <p:spPr>
          <a:xfrm>
            <a:off x="1454575" y="1740813"/>
            <a:ext cx="5973696" cy="337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Unicode normalization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Whitespace cleanup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Phone normalization with country codes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Unified Timestamp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Currency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Quantity parsing (words → numbers)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Duplicate detection: exact + conflicting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Validation: required fields, business rules</a:t>
            </a:r>
          </a:p>
        </p:txBody>
      </p:sp>
    </p:spTree>
    <p:extLst>
      <p:ext uri="{BB962C8B-B14F-4D97-AF65-F5344CB8AC3E}">
        <p14:creationId xmlns:p14="http://schemas.microsoft.com/office/powerpoint/2010/main" val="3327545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27F94-3A6F-9BF4-427A-BC54488AD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731F155-4FFD-497B-F52A-95D71E210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8A2A62-AC17-BA2B-6BCE-BE1F3C405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6FD542-22D6-83CB-9A4D-9F52D908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304" y="815717"/>
            <a:ext cx="7375161" cy="552842"/>
          </a:xfrm>
        </p:spPr>
        <p:txBody>
          <a:bodyPr anchor="t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Known Limitations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87317AC-E91E-D88E-1174-BACC5CF8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0C7A857-DA9F-B3A4-E6E1-2C34BF889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D98AAB4-9F5B-EAB4-3BA1-55D09E381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9A13F42-A34F-9405-38D3-36D27756F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35D410E-FEAC-E96D-5483-466EA6A40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AA58F-512D-4F57-C5DE-35E19ACFF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318" y="1670222"/>
            <a:ext cx="7375161" cy="394820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All TEXT columns; no DB type enforcement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No schema evolution or SCD2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Hardcoded reference dictionaries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No ingestion metadata table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Limited observability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No CI/CD or automated tests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SQLite limits scalability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E8A09B8-A7E4-7ECF-2729-035D9957D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831092-5DBF-0FAD-4BB0-724173550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34A151C-C70B-8584-AF3F-9067F7F97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D0B4E4C-3A0A-93D4-58FB-0BCC9C20E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E163CB3-945C-6F67-07B9-21C1DA252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245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8FB1A-CE70-0C75-A145-3BD61AD6E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26A41D4-543B-02E7-31D8-C355FF40B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8B15C7-7E26-BB9E-D6D1-4A9432056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16578-6A88-C4E8-8B13-EC4E586C3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304" y="815717"/>
            <a:ext cx="7375161" cy="552842"/>
          </a:xfrm>
        </p:spPr>
        <p:txBody>
          <a:bodyPr anchor="t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Next Steps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8F25157-C7D3-322A-7B24-2708DB79B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BF57D22-3C29-7A5A-CDA8-F40AFA132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45FE257-7D96-9FC2-033F-FBEF81B8EA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EE64FFA-F663-07E1-E0C7-D730463A2E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3F06523-22EB-D073-5062-C28AF374E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7C643-4976-1AB4-034F-41E23AC04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730" y="1618291"/>
            <a:ext cx="6843735" cy="461259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Add SCD2 for customer/product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Schema evolution + drift detection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Currency normalization + FX tables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Rules engine (YAML/JSON)</a:t>
            </a:r>
          </a:p>
          <a:p>
            <a:pPr>
              <a:lnSpc>
                <a:spcPct val="150000"/>
              </a:lnSpc>
            </a:pPr>
            <a:r>
              <a:rPr lang="en-US" sz="1800" dirty="0" err="1"/>
              <a:t>Ingestion_run</a:t>
            </a:r>
            <a:r>
              <a:rPr lang="en-US" sz="1800" dirty="0"/>
              <a:t> table + structured logs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DQ dashboards (Grafana/</a:t>
            </a:r>
            <a:r>
              <a:rPr lang="en-US" sz="1800" dirty="0" err="1"/>
              <a:t>Metabase</a:t>
            </a:r>
            <a:r>
              <a:rPr lang="en-US" sz="18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Unit/data tests + GitHub Actions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Migrate to PostgreSQL + Airflow/Prefect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Add checkpointing + partitioned ingestion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07AFF0-B87D-416F-DACA-6E960F3D2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13C67B0-7427-63F9-D882-517B22336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2C32096-23CB-1C73-E531-4B4916A1C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E8F0245-D96F-AFB1-B397-D53860E86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DB49660-7F7D-91A9-3563-F06C2AB55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5016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8840" y="1741337"/>
            <a:ext cx="4086547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45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43336"/>
            <a:ext cx="3872284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498</Words>
  <Application>Microsoft Office PowerPoint</Application>
  <PresentationFormat>On-screen Show (4:3)</PresentationFormat>
  <Paragraphs>95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Data Engineering Pipeline</vt:lpstr>
      <vt:lpstr>Problem Statement</vt:lpstr>
      <vt:lpstr>Architecture Overview</vt:lpstr>
      <vt:lpstr>Schema Design</vt:lpstr>
      <vt:lpstr>Why This Schema Works Well</vt:lpstr>
      <vt:lpstr>Key Engineering Considerations</vt:lpstr>
      <vt:lpstr>Data Quality Handling</vt:lpstr>
      <vt:lpstr>Data Quality Handling</vt:lpstr>
      <vt:lpstr>Known Limitations</vt:lpstr>
      <vt:lpstr>Next Steps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Saathvik Domala</cp:lastModifiedBy>
  <cp:revision>4</cp:revision>
  <dcterms:created xsi:type="dcterms:W3CDTF">2013-01-27T09:14:16Z</dcterms:created>
  <dcterms:modified xsi:type="dcterms:W3CDTF">2026-01-16T21:50:53Z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a27cab5-59e6-424d-abbb-227cd06504a3_Enabled">
    <vt:lpwstr>true</vt:lpwstr>
  </property>
  <property fmtid="{D5CDD505-2E9C-101B-9397-08002B2CF9AE}" pid="3" name="MSIP_Label_5a27cab5-59e6-424d-abbb-227cd06504a3_SetDate">
    <vt:lpwstr>2026-01-16T20:24:09Z</vt:lpwstr>
  </property>
  <property fmtid="{D5CDD505-2E9C-101B-9397-08002B2CF9AE}" pid="4" name="MSIP_Label_5a27cab5-59e6-424d-abbb-227cd06504a3_Method">
    <vt:lpwstr>Privileged</vt:lpwstr>
  </property>
  <property fmtid="{D5CDD505-2E9C-101B-9397-08002B2CF9AE}" pid="5" name="MSIP_Label_5a27cab5-59e6-424d-abbb-227cd06504a3_Name">
    <vt:lpwstr>INTERNAL v2</vt:lpwstr>
  </property>
  <property fmtid="{D5CDD505-2E9C-101B-9397-08002B2CF9AE}" pid="6" name="MSIP_Label_5a27cab5-59e6-424d-abbb-227cd06504a3_SiteId">
    <vt:lpwstr>5d3e2773-e07f-4432-a630-1a0f68a28a05</vt:lpwstr>
  </property>
  <property fmtid="{D5CDD505-2E9C-101B-9397-08002B2CF9AE}" pid="7" name="MSIP_Label_5a27cab5-59e6-424d-abbb-227cd06504a3_ActionId">
    <vt:lpwstr>c0160248-82a2-428c-93d9-5275725333b2</vt:lpwstr>
  </property>
  <property fmtid="{D5CDD505-2E9C-101B-9397-08002B2CF9AE}" pid="8" name="MSIP_Label_5a27cab5-59e6-424d-abbb-227cd06504a3_ContentBits">
    <vt:lpwstr>2</vt:lpwstr>
  </property>
  <property fmtid="{D5CDD505-2E9C-101B-9397-08002B2CF9AE}" pid="9" name="MSIP_Label_5a27cab5-59e6-424d-abbb-227cd06504a3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</vt:lpwstr>
  </property>
</Properties>
</file>